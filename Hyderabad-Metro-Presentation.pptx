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426464" y="2157984"/>
            <a:ext cx="9448495" cy="2926080"/>
          </a:xfrm>
          <a:prstGeom prst="roundRect">
            <a:avLst>
              <a:gd name="adj" fmla="val 3750"/>
            </a:avLst>
          </a:prstGeom>
          <a:solidFill>
            <a:srgbClr val="0D1B2A"/>
          </a:solidFill>
          <a:ln/>
        </p:spPr>
      </p:sp>
      <p:sp>
        <p:nvSpPr>
          <p:cNvPr id="5" name="Shape 2"/>
          <p:cNvSpPr/>
          <p:nvPr/>
        </p:nvSpPr>
        <p:spPr>
          <a:xfrm>
            <a:off x="1371600" y="2103120"/>
            <a:ext cx="9448495" cy="2926080"/>
          </a:xfrm>
          <a:prstGeom prst="roundRect">
            <a:avLst>
              <a:gd name="adj" fmla="val 3750"/>
            </a:avLst>
          </a:prstGeom>
          <a:solidFill>
            <a:srgbClr val="112844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673352" y="2368296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Shape 4"/>
          <p:cNvSpPr/>
          <p:nvPr/>
        </p:nvSpPr>
        <p:spPr>
          <a:xfrm>
            <a:off x="1645920" y="233172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50800" dist="50800" dir="16200000">
              <a:srgbClr val="00BCD4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645920" y="2560320"/>
            <a:ext cx="8899855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645920" y="3337560"/>
            <a:ext cx="8899855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Journey Planner &amp; Route Optimizer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645920" y="3977640"/>
            <a:ext cx="8899855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Algorithms  |  Multi-Objective Routing  |  Door-to-Door Planning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837280" y="459943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3809848" y="4572000"/>
            <a:ext cx="256032" cy="256032"/>
          </a:xfrm>
          <a:prstGeom prst="ellipse">
            <a:avLst/>
          </a:prstGeom>
          <a:solidFill>
            <a:srgbClr val="E5393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E53935">
                <a:alpha val="5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129888" y="45537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Line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3200" y="459943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5455768" y="4572000"/>
            <a:ext cx="256032" cy="256032"/>
          </a:xfrm>
          <a:prstGeom prst="ellipse">
            <a:avLst/>
          </a:prstGeom>
          <a:solidFill>
            <a:srgbClr val="1E88E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1E88E5">
                <a:alpha val="5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75808" y="45537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Line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129120" y="459943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7101688" y="4572000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43A047">
                <a:alpha val="5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421728" y="45537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50800" dist="50800" dir="16200000">
              <a:srgbClr val="00BCD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54864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Contributors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2892" y="2066544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0D1B2A"/>
          </a:solidFill>
          <a:ln/>
        </p:spPr>
      </p:sp>
      <p:sp>
        <p:nvSpPr>
          <p:cNvPr id="9" name="Shape 7"/>
          <p:cNvSpPr/>
          <p:nvPr/>
        </p:nvSpPr>
        <p:spPr>
          <a:xfrm>
            <a:off x="678028" y="201168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36980" y="2359152"/>
            <a:ext cx="1005840" cy="10058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409548" y="2331720"/>
            <a:ext cx="1005840" cy="10058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16200000">
              <a:srgbClr val="E53935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09548" y="2331720"/>
            <a:ext cx="100584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5188" y="3474720"/>
            <a:ext cx="21945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Vanisha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8068" y="39319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12844"/>
          </a:solidFill>
          <a:ln w="635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8068" y="3931920"/>
            <a:ext cx="18288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25BAI70118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1812" y="2066544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0D1B2A"/>
          </a:solidFill>
          <a:ln/>
        </p:spPr>
      </p:sp>
      <p:sp>
        <p:nvSpPr>
          <p:cNvPr id="17" name="Shape 15"/>
          <p:cNvSpPr/>
          <p:nvPr/>
        </p:nvSpPr>
        <p:spPr>
          <a:xfrm>
            <a:off x="3466948" y="201168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25900" y="2359152"/>
            <a:ext cx="1005840" cy="10058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198468" y="2331720"/>
            <a:ext cx="1005840" cy="10058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16200000">
              <a:srgbClr val="1E88E5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98468" y="2331720"/>
            <a:ext cx="100584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604108" y="3474720"/>
            <a:ext cx="21945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Rachna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86988" y="39319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12844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6988" y="3931920"/>
            <a:ext cx="18288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25BAI70288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10732" y="2066544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0D1B2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55868" y="201168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14820" y="2359152"/>
            <a:ext cx="1005840" cy="10058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6987388" y="2331720"/>
            <a:ext cx="1005840" cy="100584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16200000">
              <a:srgbClr val="43A047">
                <a:alpha val="5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87388" y="2331720"/>
            <a:ext cx="100584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393028" y="3474720"/>
            <a:ext cx="21945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Akriti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75908" y="39319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12844"/>
          </a:solidFill>
          <a:ln w="6350">
            <a:solidFill>
              <a:srgbClr val="43A0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5908" y="3931920"/>
            <a:ext cx="18288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25BAI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99652" y="2066544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0D1B2A"/>
          </a:solidFill>
          <a:ln/>
        </p:spPr>
      </p:sp>
      <p:sp>
        <p:nvSpPr>
          <p:cNvPr id="33" name="Shape 31"/>
          <p:cNvSpPr/>
          <p:nvPr/>
        </p:nvSpPr>
        <p:spPr>
          <a:xfrm>
            <a:off x="9044788" y="201168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03740" y="2359152"/>
            <a:ext cx="1005840" cy="10058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9776308" y="2331720"/>
            <a:ext cx="1005840" cy="10058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16200000">
              <a:srgbClr val="FFB300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776308" y="2331720"/>
            <a:ext cx="100584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181948" y="3474720"/>
            <a:ext cx="21945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Rohith Sai Gowd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364828" y="39319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12844"/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64828" y="3931920"/>
            <a:ext cx="18288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25BAI70780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/>
          <a:effectLst>
            <a:outerShdw sx="100000" sy="100000" kx="0" ky="0" algn="bl" rotWithShape="0" blurRad="50800" dist="50800" dir="16200000">
              <a:srgbClr val="E53935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86384" y="1700784"/>
            <a:ext cx="10728655" cy="1463040"/>
          </a:xfrm>
          <a:prstGeom prst="roundRect">
            <a:avLst>
              <a:gd name="adj" fmla="val 7500"/>
            </a:avLst>
          </a:prstGeom>
          <a:solidFill>
            <a:srgbClr val="0D1B2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45920"/>
            <a:ext cx="10728655" cy="1463040"/>
          </a:xfrm>
          <a:prstGeom prst="roundRect">
            <a:avLst>
              <a:gd name="adj" fmla="val 750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783080"/>
            <a:ext cx="10180015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Rail operates 3 lines with 59 stations across the city. Commuters struggle to find the optimal route — fastest, cheapest, or with fewest transfers — especially when interchange stations connect multiple lines.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77824" y="3529584"/>
            <a:ext cx="3347618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474720"/>
            <a:ext cx="3347618" cy="2011680"/>
          </a:xfrm>
          <a:prstGeom prst="roundRect">
            <a:avLst>
              <a:gd name="adj" fmla="val 5455"/>
            </a:avLst>
          </a:prstGeom>
          <a:solidFill>
            <a:srgbClr val="112844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3657600"/>
            <a:ext cx="457200" cy="457200"/>
          </a:xfrm>
          <a:prstGeom prst="ellipse">
            <a:avLst/>
          </a:prstGeom>
          <a:solidFill>
            <a:srgbClr val="E5393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E53935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657600"/>
            <a:ext cx="4572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251960"/>
            <a:ext cx="2981858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Lines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617720"/>
            <a:ext cx="2981858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Red, Blue, and Green lines with complex interchange points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54042" y="3529584"/>
            <a:ext cx="3347618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/>
        </p:spPr>
      </p:sp>
      <p:sp>
        <p:nvSpPr>
          <p:cNvPr id="17" name="Shape 15"/>
          <p:cNvSpPr/>
          <p:nvPr/>
        </p:nvSpPr>
        <p:spPr>
          <a:xfrm>
            <a:off x="4399178" y="3474720"/>
            <a:ext cx="3347618" cy="2011680"/>
          </a:xfrm>
          <a:prstGeom prst="roundRect">
            <a:avLst>
              <a:gd name="adj" fmla="val 5455"/>
            </a:avLst>
          </a:prstGeom>
          <a:solidFill>
            <a:srgbClr val="112844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82058" y="3657600"/>
            <a:ext cx="457200" cy="457200"/>
          </a:xfrm>
          <a:prstGeom prst="ellipse">
            <a:avLst/>
          </a:prstGeom>
          <a:solidFill>
            <a:srgbClr val="E5393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E53935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82058" y="3657600"/>
            <a:ext cx="4572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82058" y="4251960"/>
            <a:ext cx="2981858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Competing Goals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82058" y="4617720"/>
            <a:ext cx="2981858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 vs cost vs comfort — no single "best" route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30261" y="3529584"/>
            <a:ext cx="3347618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/>
        </p:spPr>
      </p:sp>
      <p:sp>
        <p:nvSpPr>
          <p:cNvPr id="23" name="Shape 21"/>
          <p:cNvSpPr/>
          <p:nvPr/>
        </p:nvSpPr>
        <p:spPr>
          <a:xfrm>
            <a:off x="7975397" y="3474720"/>
            <a:ext cx="3347618" cy="2011680"/>
          </a:xfrm>
          <a:prstGeom prst="roundRect">
            <a:avLst>
              <a:gd name="adj" fmla="val 5455"/>
            </a:avLst>
          </a:prstGeom>
          <a:solidFill>
            <a:srgbClr val="112844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58277" y="3657600"/>
            <a:ext cx="457200" cy="457200"/>
          </a:xfrm>
          <a:prstGeom prst="ellipse">
            <a:avLst/>
          </a:prstGeom>
          <a:solidFill>
            <a:srgbClr val="E5393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E53935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58277" y="3657600"/>
            <a:ext cx="4572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58277" y="4251960"/>
            <a:ext cx="2981858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First/Last Mile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58277" y="4617720"/>
            <a:ext cx="2981858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Walking to and from stations adds hidden time and cost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50800" dist="50800" dir="16200000">
              <a:srgbClr val="00BCD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77824" y="1700784"/>
            <a:ext cx="3332378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645920"/>
            <a:ext cx="3332378" cy="2011680"/>
          </a:xfrm>
          <a:prstGeom prst="roundRect">
            <a:avLst>
              <a:gd name="adj" fmla="val 5455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83080"/>
            <a:ext cx="6400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286000"/>
            <a:ext cx="3058058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Graph-Based Network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743200"/>
            <a:ext cx="3058058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 all 59 stations and 3 metro lines as a weighted directed graph with typed edges (adjacent, interchange, walking).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93082" y="1700784"/>
            <a:ext cx="3332378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8218" y="1645920"/>
            <a:ext cx="3332378" cy="2011680"/>
          </a:xfrm>
          <a:prstGeom prst="roundRect">
            <a:avLst>
              <a:gd name="adj" fmla="val 5455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75378" y="1783080"/>
            <a:ext cx="6400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75378" y="2286000"/>
            <a:ext cx="3058058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Multi-Objective Route Search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75378" y="2743200"/>
            <a:ext cx="3058058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6 routing objectives: fastest, cheapest, fewest interchanges, least walking, shortest distance, and balanced.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08341" y="1700784"/>
            <a:ext cx="3332378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/>
        </p:spPr>
      </p:sp>
      <p:sp>
        <p:nvSpPr>
          <p:cNvPr id="18" name="Shape 16"/>
          <p:cNvSpPr/>
          <p:nvPr/>
        </p:nvSpPr>
        <p:spPr>
          <a:xfrm>
            <a:off x="7853477" y="1645920"/>
            <a:ext cx="3332378" cy="2011680"/>
          </a:xfrm>
          <a:prstGeom prst="roundRect">
            <a:avLst>
              <a:gd name="adj" fmla="val 5455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90637" y="1783080"/>
            <a:ext cx="6400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90637" y="2286000"/>
            <a:ext cx="3058058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Graph Algorithms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90637" y="2743200"/>
            <a:ext cx="3058058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Dijkstra's shortest path, Yen's k-shortest paths, and transfer-aware BFS — no hardcoded routes.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7824" y="3895344"/>
            <a:ext cx="3332378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3840480"/>
            <a:ext cx="3332378" cy="2011680"/>
          </a:xfrm>
          <a:prstGeom prst="roundRect">
            <a:avLst>
              <a:gd name="adj" fmla="val 5455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3977640"/>
            <a:ext cx="6400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0120" y="4480560"/>
            <a:ext cx="3058058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Door-to-Door Itinerary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937760"/>
            <a:ext cx="3058058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complete travel timelines with access walking, timetable-based waiting, and exit walking.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93082" y="3895344"/>
            <a:ext cx="3332378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/>
        </p:spPr>
      </p:sp>
      <p:sp>
        <p:nvSpPr>
          <p:cNvPr id="28" name="Shape 26"/>
          <p:cNvSpPr/>
          <p:nvPr/>
        </p:nvSpPr>
        <p:spPr>
          <a:xfrm>
            <a:off x="4338218" y="3840480"/>
            <a:ext cx="3332378" cy="2011680"/>
          </a:xfrm>
          <a:prstGeom prst="roundRect">
            <a:avLst>
              <a:gd name="adj" fmla="val 5455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75378" y="3977640"/>
            <a:ext cx="6400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475378" y="4480560"/>
            <a:ext cx="3058058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Fare Estimation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75378" y="4937760"/>
            <a:ext cx="3058058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 metro fares using HMRL's published distance-based slab structure (Rs. 10–60).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08341" y="3895344"/>
            <a:ext cx="3332378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/>
        </p:spPr>
      </p:sp>
      <p:sp>
        <p:nvSpPr>
          <p:cNvPr id="33" name="Shape 31"/>
          <p:cNvSpPr/>
          <p:nvPr/>
        </p:nvSpPr>
        <p:spPr>
          <a:xfrm>
            <a:off x="7853477" y="3840480"/>
            <a:ext cx="3332378" cy="2011680"/>
          </a:xfrm>
          <a:prstGeom prst="roundRect">
            <a:avLst>
              <a:gd name="adj" fmla="val 5455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90637" y="3977640"/>
            <a:ext cx="6400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990637" y="4480560"/>
            <a:ext cx="3058058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Visualization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990637" y="4937760"/>
            <a:ext cx="3058058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a DSA Lab screen that visualizes algorithm execution step-by-step for educational value.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/>
          <a:effectLst>
            <a:outerShdw sx="100000" sy="100000" kx="0" ky="0" algn="bl" rotWithShape="0" blurRad="50800" dist="50800" dir="16200000">
              <a:srgbClr val="1E88E5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Network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86384" y="1792224"/>
            <a:ext cx="3347618" cy="3200400"/>
          </a:xfrm>
          <a:prstGeom prst="roundRect">
            <a:avLst>
              <a:gd name="adj" fmla="val 3429"/>
            </a:avLst>
          </a:prstGeom>
          <a:solidFill>
            <a:srgbClr val="0D1B2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737360"/>
            <a:ext cx="3347618" cy="3200400"/>
          </a:xfrm>
          <a:prstGeom prst="roundRect">
            <a:avLst>
              <a:gd name="adj" fmla="val 3429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764792"/>
            <a:ext cx="3292754" cy="640080"/>
          </a:xfrm>
          <a:prstGeom prst="roundRect">
            <a:avLst>
              <a:gd name="adj" fmla="val 14286"/>
            </a:avLst>
          </a:prstGeom>
          <a:solidFill>
            <a:srgbClr val="E53935"/>
          </a:solidFill>
          <a:ln/>
          <a:effectLst>
            <a:outerShdw sx="100000" sy="100000" kx="0" ky="0" algn="bl" rotWithShape="0" blurRad="63500" dist="50800" dir="16200000">
              <a:srgbClr val="E53935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1783080"/>
            <a:ext cx="3073298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Line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2981858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Miyapur to LB Nagar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3108960"/>
            <a:ext cx="2798978" cy="640080"/>
          </a:xfrm>
          <a:prstGeom prst="roundRect">
            <a:avLst>
              <a:gd name="adj" fmla="val 11429"/>
            </a:avLst>
          </a:prstGeom>
          <a:solidFill>
            <a:srgbClr val="112844"/>
          </a:solidFill>
          <a:ln w="635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08960"/>
            <a:ext cx="2798978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429000"/>
            <a:ext cx="2798978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931920"/>
            <a:ext cx="2798978" cy="640080"/>
          </a:xfrm>
          <a:prstGeom prst="roundRect">
            <a:avLst>
              <a:gd name="adj" fmla="val 11429"/>
            </a:avLst>
          </a:prstGeom>
          <a:solidFill>
            <a:srgbClr val="112844"/>
          </a:solidFill>
          <a:ln w="63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31920"/>
            <a:ext cx="2798978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29.21 km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2798978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62602" y="1792224"/>
            <a:ext cx="3347618" cy="3200400"/>
          </a:xfrm>
          <a:prstGeom prst="roundRect">
            <a:avLst>
              <a:gd name="adj" fmla="val 3429"/>
            </a:avLst>
          </a:prstGeom>
          <a:solidFill>
            <a:srgbClr val="0D1B2A"/>
          </a:solidFill>
          <a:ln/>
        </p:spPr>
      </p:sp>
      <p:sp>
        <p:nvSpPr>
          <p:cNvPr id="19" name="Shape 17"/>
          <p:cNvSpPr/>
          <p:nvPr/>
        </p:nvSpPr>
        <p:spPr>
          <a:xfrm>
            <a:off x="4307738" y="1737360"/>
            <a:ext cx="3347618" cy="3200400"/>
          </a:xfrm>
          <a:prstGeom prst="roundRect">
            <a:avLst>
              <a:gd name="adj" fmla="val 3429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35170" y="1764792"/>
            <a:ext cx="3292754" cy="640080"/>
          </a:xfrm>
          <a:prstGeom prst="roundRect">
            <a:avLst>
              <a:gd name="adj" fmla="val 14286"/>
            </a:avLst>
          </a:prstGeom>
          <a:solidFill>
            <a:srgbClr val="1E88E5"/>
          </a:solidFill>
          <a:ln/>
          <a:effectLst>
            <a:outerShdw sx="100000" sy="100000" kx="0" ky="0" algn="bl" rotWithShape="0" blurRad="63500" dist="50800" dir="16200000">
              <a:srgbClr val="1E88E5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44898" y="1783080"/>
            <a:ext cx="3073298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Line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90618" y="2560320"/>
            <a:ext cx="2981858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Raidurg to Nagole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82058" y="3108960"/>
            <a:ext cx="2798978" cy="640080"/>
          </a:xfrm>
          <a:prstGeom prst="roundRect">
            <a:avLst>
              <a:gd name="adj" fmla="val 11429"/>
            </a:avLst>
          </a:prstGeom>
          <a:solidFill>
            <a:srgbClr val="112844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2058" y="3108960"/>
            <a:ext cx="2798978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82058" y="3429000"/>
            <a:ext cx="2798978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82058" y="3931920"/>
            <a:ext cx="2798978" cy="640080"/>
          </a:xfrm>
          <a:prstGeom prst="roundRect">
            <a:avLst>
              <a:gd name="adj" fmla="val 11429"/>
            </a:avLst>
          </a:prstGeom>
          <a:solidFill>
            <a:srgbClr val="112844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2058" y="3931920"/>
            <a:ext cx="2798978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27.00 km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82058" y="4251960"/>
            <a:ext cx="2798978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38821" y="1792224"/>
            <a:ext cx="3347618" cy="3200400"/>
          </a:xfrm>
          <a:prstGeom prst="roundRect">
            <a:avLst>
              <a:gd name="adj" fmla="val 3429"/>
            </a:avLst>
          </a:prstGeom>
          <a:solidFill>
            <a:srgbClr val="0D1B2A"/>
          </a:solidFill>
          <a:ln/>
        </p:spPr>
      </p:sp>
      <p:sp>
        <p:nvSpPr>
          <p:cNvPr id="30" name="Shape 28"/>
          <p:cNvSpPr/>
          <p:nvPr/>
        </p:nvSpPr>
        <p:spPr>
          <a:xfrm>
            <a:off x="7883957" y="1737360"/>
            <a:ext cx="3347618" cy="3200400"/>
          </a:xfrm>
          <a:prstGeom prst="roundRect">
            <a:avLst>
              <a:gd name="adj" fmla="val 3429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911389" y="1764792"/>
            <a:ext cx="3292754" cy="640080"/>
          </a:xfrm>
          <a:prstGeom prst="roundRect">
            <a:avLst>
              <a:gd name="adj" fmla="val 14286"/>
            </a:avLst>
          </a:prstGeom>
          <a:solidFill>
            <a:srgbClr val="43A047"/>
          </a:solidFill>
          <a:ln/>
          <a:effectLst>
            <a:outerShdw sx="100000" sy="100000" kx="0" ky="0" algn="bl" rotWithShape="0" blurRad="63500" dist="50800" dir="16200000">
              <a:srgbClr val="43A047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021117" y="1783080"/>
            <a:ext cx="3073298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Line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66837" y="2560320"/>
            <a:ext cx="2981858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JBS Parade Ground to MGBS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58277" y="3108960"/>
            <a:ext cx="2798978" cy="640080"/>
          </a:xfrm>
          <a:prstGeom prst="roundRect">
            <a:avLst>
              <a:gd name="adj" fmla="val 11429"/>
            </a:avLst>
          </a:prstGeom>
          <a:solidFill>
            <a:srgbClr val="112844"/>
          </a:solidFill>
          <a:ln w="6350">
            <a:solidFill>
              <a:srgbClr val="43A0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58277" y="3108960"/>
            <a:ext cx="2798978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158277" y="3429000"/>
            <a:ext cx="2798978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58277" y="3931920"/>
            <a:ext cx="2798978" cy="640080"/>
          </a:xfrm>
          <a:prstGeom prst="roundRect">
            <a:avLst>
              <a:gd name="adj" fmla="val 11429"/>
            </a:avLst>
          </a:prstGeom>
          <a:solidFill>
            <a:srgbClr val="112844"/>
          </a:solidFill>
          <a:ln w="6350">
            <a:solidFill>
              <a:srgbClr val="43A0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58277" y="3931920"/>
            <a:ext cx="2798978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11.00 km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158277" y="4251960"/>
            <a:ext cx="2798978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6384" y="5266944"/>
            <a:ext cx="10728655" cy="82296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</p:spPr>
      </p:sp>
      <p:sp>
        <p:nvSpPr>
          <p:cNvPr id="41" name="Shape 39"/>
          <p:cNvSpPr/>
          <p:nvPr/>
        </p:nvSpPr>
        <p:spPr>
          <a:xfrm>
            <a:off x="731520" y="5212080"/>
            <a:ext cx="10728655" cy="822960"/>
          </a:xfrm>
          <a:prstGeom prst="roundRect">
            <a:avLst>
              <a:gd name="adj" fmla="val 13333"/>
            </a:avLst>
          </a:prstGeom>
          <a:solidFill>
            <a:srgbClr val="112844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4400" y="5257800"/>
            <a:ext cx="10362895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3 Lines  |  59 Stations  |  67.21 km  |  Key Interchanges: Ameerpet (Red-Blue), Parade Ground (Blue-Green), MGBS (Red-Green)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  <a:effectLst>
            <a:outerShdw sx="100000" sy="100000" kx="0" ky="0" algn="bl" rotWithShape="0" blurRad="50800" dist="50800" dir="16200000">
              <a:srgbClr val="43A047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Data Model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metro network is represented as a weighted graph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" y="1883664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0D1B2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82880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Vertices (Nodes)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468880"/>
            <a:ext cx="109728" cy="10972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395728"/>
            <a:ext cx="438912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station on a line = 1 vertex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944368"/>
            <a:ext cx="109728" cy="10972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871216"/>
            <a:ext cx="438912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station serving N lines = N vertices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3419856"/>
            <a:ext cx="109728" cy="10972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346704"/>
            <a:ext cx="438912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Vertex ID format: stationId:lineId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5840" y="3895344"/>
            <a:ext cx="109728" cy="10972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3822192"/>
            <a:ext cx="438912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ameerpet:red, ameerpet:blue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4370832"/>
            <a:ext cx="109728" cy="10972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4297680"/>
            <a:ext cx="438912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Allows precise line-change tracking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" y="4846320"/>
            <a:ext cx="109728" cy="10972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4773168"/>
            <a:ext cx="438912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Interchange stations are explicitly modeled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64224" y="1883664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0D1B2A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182880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8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Edges (Connections)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92240" y="246888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112844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2697480"/>
            <a:ext cx="274320" cy="274320"/>
          </a:xfrm>
          <a:prstGeom prst="ellipse">
            <a:avLst/>
          </a:prstGeom>
          <a:solidFill>
            <a:srgbClr val="1E88E5"/>
          </a:solidFill>
          <a:ln/>
          <a:effectLst>
            <a:outerShdw sx="100000" sy="100000" kx="0" ky="0" algn="bl" rotWithShape="0" blurRad="38100" dist="50800" dir="16200000">
              <a:srgbClr val="1E88E5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5160" y="2468880"/>
            <a:ext cx="14630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Adjacent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338328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112844"/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3611880"/>
            <a:ext cx="274320" cy="274320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38100" dist="50800" dir="16200000">
              <a:srgbClr val="FFB3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95160" y="3383280"/>
            <a:ext cx="14630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Interchange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429768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112844"/>
          </a:solidFill>
          <a:ln w="6350">
            <a:solidFill>
              <a:srgbClr val="E539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4526280"/>
            <a:ext cx="274320" cy="274320"/>
          </a:xfrm>
          <a:prstGeom prst="ellipse">
            <a:avLst/>
          </a:prstGeom>
          <a:solidFill>
            <a:srgbClr val="E53935"/>
          </a:solidFill>
          <a:ln/>
          <a:effectLst>
            <a:outerShdw sx="100000" sy="100000" kx="0" ky="0" algn="bl" rotWithShape="0" blurRad="38100" dist="50800" dir="16200000">
              <a:srgbClr val="E53935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95160" y="4297680"/>
            <a:ext cx="14630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92240" y="5303520"/>
            <a:ext cx="18288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Weights: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0" y="5303520"/>
            <a:ext cx="27432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distanceKm  |  timeMin  |  type  |  line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50800" dist="50800" dir="16200000">
              <a:srgbClr val="00BCD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Dijkstra's Shortest Path Algorithm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86384" y="1792224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73736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74520"/>
            <a:ext cx="49377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Algorithm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2331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31720"/>
            <a:ext cx="2743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2304288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Initialize all distances to infinity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27432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743200"/>
            <a:ext cx="2743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2715768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source distance to 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31546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154680"/>
            <a:ext cx="2743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3127248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source into min-priority queue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356616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566160"/>
            <a:ext cx="2743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3538728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minimum vertex, mark as settled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3977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977640"/>
            <a:ext cx="2743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25880" y="3950208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Relax all unsettled neighbors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0120" y="43891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389120"/>
            <a:ext cx="2743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25880" y="4361688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distance if shorter path found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" y="48006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800600"/>
            <a:ext cx="2743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25880" y="4773168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 until all vertices settled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0120" y="52120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212080"/>
            <a:ext cx="2743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25880" y="5184648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Reconstruct path from destination to source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55664" y="1792224"/>
            <a:ext cx="5029200" cy="19202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0" y="1737360"/>
            <a:ext cx="5029200" cy="1920240"/>
          </a:xfrm>
          <a:prstGeom prst="roundRect">
            <a:avLst>
              <a:gd name="adj" fmla="val 5714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0" y="1874520"/>
            <a:ext cx="466344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Structures Used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2286000"/>
            <a:ext cx="466344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Adjacency-list graph representation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2560320"/>
            <a:ext cx="466344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Min-priority queue (binary heap)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2834640"/>
            <a:ext cx="466344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Distance array (Map&lt;vertexId, number&gt;)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3108960"/>
            <a:ext cx="466344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Predecessor array (Map&lt;vertexId, string&gt;)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3383280"/>
            <a:ext cx="466344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Settled set (Set&lt;vertexId&gt;)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55664" y="3895344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0" y="384048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12844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583680" y="3977640"/>
            <a:ext cx="466344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Complexity Analysis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583680" y="4434840"/>
            <a:ext cx="13716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Time: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046720" y="4434840"/>
            <a:ext cx="32004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O((V + E) log V)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3680" y="4846320"/>
            <a:ext cx="13716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Space: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046720" y="4846320"/>
            <a:ext cx="32004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83680" y="5257800"/>
            <a:ext cx="13716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modes: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46720" y="5257800"/>
            <a:ext cx="32004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time, distance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/>
          <a:effectLst>
            <a:outerShdw sx="100000" sy="100000" kx="0" ky="0" algn="bl" rotWithShape="0" blurRad="50800" dist="50800" dir="16200000">
              <a:srgbClr val="FFB3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Yen's K-Shortest Paths Algorithm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multiple alternative routes for user choice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" y="1792224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73736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874520"/>
            <a:ext cx="49377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Find shortest path using Dijkstra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For each node on the best path: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3154680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Spur from that node (deviate)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3566160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used edges and root vertices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Dijkstra on modified graph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4389120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 candidate paths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800600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Pick lowest-cost candidate as next path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5212080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Repeat until K paths found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55664" y="1792224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1874520"/>
            <a:ext cx="466344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Multiple Paths?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37960" y="23774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112844"/>
          </a:solidFill>
          <a:ln w="508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377440"/>
            <a:ext cx="182880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Choice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20040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112844"/>
          </a:solidFill>
          <a:ln w="508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200400"/>
            <a:ext cx="182880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Balanced Objective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402336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112844"/>
          </a:solidFill>
          <a:ln w="508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4023360"/>
            <a:ext cx="182880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 Visibility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48463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112844"/>
          </a:solidFill>
          <a:ln w="508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846320"/>
            <a:ext cx="182880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55664" y="5541264"/>
            <a:ext cx="5029200" cy="457200"/>
          </a:xfrm>
          <a:prstGeom prst="roundRect">
            <a:avLst>
              <a:gd name="adj" fmla="val 24000"/>
            </a:avLst>
          </a:prstGeom>
          <a:solidFill>
            <a:srgbClr val="0D1B2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5486400"/>
            <a:ext cx="5029200" cy="457200"/>
          </a:xfrm>
          <a:prstGeom prst="roundRect">
            <a:avLst>
              <a:gd name="adj" fmla="val 24000"/>
            </a:avLst>
          </a:prstGeom>
          <a:solidFill>
            <a:srgbClr val="112844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0" y="5532120"/>
            <a:ext cx="466344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Reference: Yen, J.Y. (1971). Management Science.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/>
          <a:effectLst>
            <a:outerShdw sx="100000" sy="100000" kx="0" ky="0" algn="bl" rotWithShape="0" blurRad="50800" dist="50800" dir="16200000">
              <a:srgbClr val="E53935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Route Optimization Objectives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01472" y="1609344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/>
        </p:spPr>
      </p:sp>
      <p:sp>
        <p:nvSpPr>
          <p:cNvPr id="8" name="Shape 6"/>
          <p:cNvSpPr/>
          <p:nvPr/>
        </p:nvSpPr>
        <p:spPr>
          <a:xfrm>
            <a:off x="746608" y="155448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1200" y="1764792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883768" y="1737360"/>
            <a:ext cx="502920" cy="502920"/>
          </a:xfrm>
          <a:prstGeom prst="ellipse">
            <a:avLst/>
          </a:prstGeom>
          <a:solidFill>
            <a:srgbClr val="E5393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E53935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3768" y="1737360"/>
            <a:ext cx="50292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3848" y="1737360"/>
            <a:ext cx="246888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23848" y="2057400"/>
            <a:ext cx="2468880" cy="2286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Minimize total travel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29488" y="246888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112844"/>
          </a:solidFill>
          <a:ln w="635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9488" y="2468880"/>
            <a:ext cx="301752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 (time weight)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59072" y="1609344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/>
        </p:spPr>
      </p:sp>
      <p:sp>
        <p:nvSpPr>
          <p:cNvPr id="17" name="Shape 15"/>
          <p:cNvSpPr/>
          <p:nvPr/>
        </p:nvSpPr>
        <p:spPr>
          <a:xfrm>
            <a:off x="4404208" y="155448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68800" y="1764792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41368" y="1737360"/>
            <a:ext cx="502920" cy="502920"/>
          </a:xfrm>
          <a:prstGeom prst="ellipse">
            <a:avLst/>
          </a:prstGeom>
          <a:solidFill>
            <a:srgbClr val="43A047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43A047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41368" y="1737360"/>
            <a:ext cx="50292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81448" y="1737360"/>
            <a:ext cx="246888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Cheapest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81448" y="2057400"/>
            <a:ext cx="2468880" cy="2286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Minimize estimated fare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87088" y="246888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112844"/>
          </a:solidFill>
          <a:ln w="6350">
            <a:solidFill>
              <a:srgbClr val="43A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7088" y="2468880"/>
            <a:ext cx="301752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 (fare slab)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16672" y="1609344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/>
        </p:spPr>
      </p:sp>
      <p:sp>
        <p:nvSpPr>
          <p:cNvPr id="26" name="Shape 24"/>
          <p:cNvSpPr/>
          <p:nvPr/>
        </p:nvSpPr>
        <p:spPr>
          <a:xfrm>
            <a:off x="8061808" y="155448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6400" y="1764792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8198968" y="1737360"/>
            <a:ext cx="502920" cy="502920"/>
          </a:xfrm>
          <a:prstGeom prst="ellipse">
            <a:avLst/>
          </a:prstGeom>
          <a:solidFill>
            <a:srgbClr val="1E88E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1E88E5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98968" y="1737360"/>
            <a:ext cx="50292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39048" y="1737360"/>
            <a:ext cx="246888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Fewest Changes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839048" y="2057400"/>
            <a:ext cx="2468880" cy="2286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Minimize line transfers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44688" y="246888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112844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4688" y="2468880"/>
            <a:ext cx="301752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Lexicographic BFS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1472" y="3941064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/>
        </p:spPr>
      </p:sp>
      <p:sp>
        <p:nvSpPr>
          <p:cNvPr id="35" name="Shape 33"/>
          <p:cNvSpPr/>
          <p:nvPr/>
        </p:nvSpPr>
        <p:spPr>
          <a:xfrm>
            <a:off x="746608" y="388620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1200" y="4096512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883768" y="4069080"/>
            <a:ext cx="502920" cy="502920"/>
          </a:xfrm>
          <a:prstGeom prst="ellipse">
            <a:avLst/>
          </a:prstGeom>
          <a:solidFill>
            <a:srgbClr val="FFB300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FFB3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83768" y="4069080"/>
            <a:ext cx="50292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523848" y="4069080"/>
            <a:ext cx="246888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Least Walking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523848" y="4389120"/>
            <a:ext cx="2468880" cy="2286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Minimize walking distance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29488" y="480060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112844"/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9488" y="4800600"/>
            <a:ext cx="301752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 (walk weight)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59072" y="3941064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/>
        </p:spPr>
      </p:sp>
      <p:sp>
        <p:nvSpPr>
          <p:cNvPr id="44" name="Shape 42"/>
          <p:cNvSpPr/>
          <p:nvPr/>
        </p:nvSpPr>
        <p:spPr>
          <a:xfrm>
            <a:off x="4404208" y="388620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68800" y="4096512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4541368" y="4069080"/>
            <a:ext cx="502920" cy="502920"/>
          </a:xfrm>
          <a:prstGeom prst="ellipse">
            <a:avLst/>
          </a:prstGeom>
          <a:solidFill>
            <a:srgbClr val="00BCD4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00BCD4">
                <a:alpha val="4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541368" y="4069080"/>
            <a:ext cx="50292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181448" y="4069080"/>
            <a:ext cx="246888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Shortest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181448" y="4389120"/>
            <a:ext cx="2468880" cy="2286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Minimize track distance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87088" y="480060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112844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87088" y="4800600"/>
            <a:ext cx="301752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 (distance)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116672" y="3941064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/>
        </p:spPr>
      </p:sp>
      <p:sp>
        <p:nvSpPr>
          <p:cNvPr id="53" name="Shape 51"/>
          <p:cNvSpPr/>
          <p:nvPr/>
        </p:nvSpPr>
        <p:spPr>
          <a:xfrm>
            <a:off x="8061808" y="388620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226400" y="4096512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8198968" y="4069080"/>
            <a:ext cx="502920" cy="502920"/>
          </a:xfrm>
          <a:prstGeom prst="ellipse">
            <a:avLst/>
          </a:prstGeom>
          <a:solidFill>
            <a:srgbClr val="00838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00838F">
                <a:alpha val="4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198968" y="4069080"/>
            <a:ext cx="50292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839048" y="4069080"/>
            <a:ext cx="246888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Balanced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8839048" y="4389120"/>
            <a:ext cx="2468880" cy="2286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multi-criteria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244688" y="480060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112844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44688" y="4800600"/>
            <a:ext cx="301752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K-shortest + scoring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244688" y="5303520"/>
            <a:ext cx="30175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Weights: Time 35% | Cost 25% | Transfers 25% | Walking 15%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  <a:effectLst>
            <a:outerShdw sx="100000" sy="100000" kx="0" ky="0" algn="bl" rotWithShape="0" blurRad="50800" dist="50800" dir="16200000">
              <a:srgbClr val="43A047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Fare Estimation Model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HMRL published distance-based slab 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" y="1792224"/>
            <a:ext cx="6583680" cy="41148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737360"/>
            <a:ext cx="6583680" cy="41148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874520"/>
            <a:ext cx="621792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Fare Slab Structure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331720"/>
            <a:ext cx="6217920" cy="365760"/>
          </a:xfrm>
          <a:prstGeom prst="roundRect">
            <a:avLst>
              <a:gd name="adj" fmla="val 12500"/>
            </a:avLst>
          </a:prstGeom>
          <a:solidFill>
            <a:srgbClr val="43A047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331720"/>
            <a:ext cx="27432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 Range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18288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743200"/>
            <a:ext cx="6217920" cy="256032"/>
          </a:xfrm>
          <a:prstGeom prst="rect">
            <a:avLst/>
          </a:prstGeom>
          <a:solidFill>
            <a:srgbClr val="1128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743200"/>
            <a:ext cx="27432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– 2 km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18288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Rs. 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017520"/>
            <a:ext cx="621792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017520"/>
            <a:ext cx="27432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– 4 km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017520"/>
            <a:ext cx="18288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Rs. 15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291840"/>
            <a:ext cx="6217920" cy="256032"/>
          </a:xfrm>
          <a:prstGeom prst="rect">
            <a:avLst/>
          </a:prstGeom>
          <a:solidFill>
            <a:srgbClr val="112844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291840"/>
            <a:ext cx="27432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– 6 km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291840"/>
            <a:ext cx="18288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Rs. 20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566160"/>
            <a:ext cx="621792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566160"/>
            <a:ext cx="27432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– 8 km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566160"/>
            <a:ext cx="18288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Rs. 25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3840480"/>
            <a:ext cx="6217920" cy="256032"/>
          </a:xfrm>
          <a:prstGeom prst="rect">
            <a:avLst/>
          </a:prstGeom>
          <a:solidFill>
            <a:srgbClr val="112844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840480"/>
            <a:ext cx="27432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– 10 km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3840480"/>
            <a:ext cx="18288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Rs. 30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4114800"/>
            <a:ext cx="621792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114800"/>
            <a:ext cx="27432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– 14 km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4114800"/>
            <a:ext cx="18288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Rs. 35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" y="4389120"/>
            <a:ext cx="6217920" cy="256032"/>
          </a:xfrm>
          <a:prstGeom prst="rect">
            <a:avLst/>
          </a:prstGeom>
          <a:solidFill>
            <a:srgbClr val="112844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4389120"/>
            <a:ext cx="27432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– 18 km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4389120"/>
            <a:ext cx="18288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Rs. 40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" y="4663440"/>
            <a:ext cx="621792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" y="4663440"/>
            <a:ext cx="27432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– 22 km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4663440"/>
            <a:ext cx="18288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Rs. 45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4400" y="4937760"/>
            <a:ext cx="6217920" cy="256032"/>
          </a:xfrm>
          <a:prstGeom prst="rect">
            <a:avLst/>
          </a:prstGeom>
          <a:solidFill>
            <a:srgbClr val="112844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4937760"/>
            <a:ext cx="27432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– 26 km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4937760"/>
            <a:ext cx="18288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Rs. 50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14400" y="5212080"/>
            <a:ext cx="621792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2" name="Text 40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– 30 km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5212080"/>
            <a:ext cx="18288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Rs. 55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14400" y="5486400"/>
            <a:ext cx="6217920" cy="256032"/>
          </a:xfrm>
          <a:prstGeom prst="rect">
            <a:avLst/>
          </a:prstGeom>
          <a:solidFill>
            <a:srgbClr val="112844"/>
          </a:solidFill>
          <a:ln/>
        </p:spPr>
      </p:sp>
      <p:sp>
        <p:nvSpPr>
          <p:cNvPr id="45" name="Text 43"/>
          <p:cNvSpPr/>
          <p:nvPr/>
        </p:nvSpPr>
        <p:spPr>
          <a:xfrm>
            <a:off x="1097280" y="5486400"/>
            <a:ext cx="27432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 km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0" y="5486400"/>
            <a:ext cx="182880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Rs. 60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44384" y="1792224"/>
            <a:ext cx="3840480" cy="411480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/>
        </p:spPr>
      </p:sp>
      <p:sp>
        <p:nvSpPr>
          <p:cNvPr id="48" name="Shape 46"/>
          <p:cNvSpPr/>
          <p:nvPr/>
        </p:nvSpPr>
        <p:spPr>
          <a:xfrm>
            <a:off x="7589520" y="1737360"/>
            <a:ext cx="3840480" cy="4114800"/>
          </a:xfrm>
          <a:prstGeom prst="roundRect">
            <a:avLst>
              <a:gd name="adj" fmla="val 285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772400" y="1874520"/>
            <a:ext cx="347472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Properties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818120" y="2423160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51" name="Text 49"/>
          <p:cNvSpPr/>
          <p:nvPr/>
        </p:nvSpPr>
        <p:spPr>
          <a:xfrm>
            <a:off x="8001000" y="2359152"/>
            <a:ext cx="320040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Distance-based, not line-based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818120" y="2898648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53" name="Text 51"/>
          <p:cNvSpPr/>
          <p:nvPr/>
        </p:nvSpPr>
        <p:spPr>
          <a:xfrm>
            <a:off x="8001000" y="2834640"/>
            <a:ext cx="320040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fare regardless of route taken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818120" y="3374136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55" name="Text 53"/>
          <p:cNvSpPr/>
          <p:nvPr/>
        </p:nvSpPr>
        <p:spPr>
          <a:xfrm>
            <a:off x="8001000" y="3310128"/>
            <a:ext cx="320040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Fare depends only on total km traveled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818120" y="3849624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57" name="Text 55"/>
          <p:cNvSpPr/>
          <p:nvPr/>
        </p:nvSpPr>
        <p:spPr>
          <a:xfrm>
            <a:off x="8001000" y="3785616"/>
            <a:ext cx="320040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Slab boundaries from HMRL published data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818120" y="4325112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59" name="Text 57"/>
          <p:cNvSpPr/>
          <p:nvPr/>
        </p:nvSpPr>
        <p:spPr>
          <a:xfrm>
            <a:off x="8001000" y="4261104"/>
            <a:ext cx="320040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Minimum: Rs. 10 (up to 2 km)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818120" y="4800600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61" name="Text 59"/>
          <p:cNvSpPr/>
          <p:nvPr/>
        </p:nvSpPr>
        <p:spPr>
          <a:xfrm>
            <a:off x="8001000" y="4736592"/>
            <a:ext cx="320040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Maximum: Rs. 60 (30+ km)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818120" y="5276088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63" name="Text 61"/>
          <p:cNvSpPr/>
          <p:nvPr/>
        </p:nvSpPr>
        <p:spPr>
          <a:xfrm>
            <a:off x="8001000" y="5212080"/>
            <a:ext cx="320040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Cheapest objective meaningful with first/last mile costs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/>
          <a:effectLst>
            <a:outerShdw sx="100000" sy="100000" kx="0" ky="0" algn="bl" rotWithShape="0" blurRad="50800" dist="50800" dir="16200000">
              <a:srgbClr val="1E88E5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Door-to-Door Itinerary Planning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78837" y="2514600"/>
            <a:ext cx="118872" cy="5486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2066544"/>
            <a:ext cx="1711909" cy="2743200"/>
          </a:xfrm>
          <a:prstGeom prst="roundRect">
            <a:avLst>
              <a:gd name="adj" fmla="val 6410"/>
            </a:avLst>
          </a:prstGeom>
          <a:solidFill>
            <a:srgbClr val="0D1B2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11680"/>
            <a:ext cx="1711909" cy="2743200"/>
          </a:xfrm>
          <a:prstGeom prst="roundRect">
            <a:avLst>
              <a:gd name="adj" fmla="val 641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11987" y="2221992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084555" y="2194560"/>
            <a:ext cx="640080" cy="640080"/>
          </a:xfrm>
          <a:prstGeom prst="ellipse">
            <a:avLst/>
          </a:prstGeom>
          <a:solidFill>
            <a:srgbClr val="FFB300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50800" dir="16200000">
              <a:srgbClr val="FFB3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4555" y="2194560"/>
            <a:ext cx="6400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1529029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Walk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1529029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 from start address to boarding station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27906" y="2514600"/>
            <a:ext cx="118872" cy="5486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6" name="Shape 14"/>
          <p:cNvSpPr/>
          <p:nvPr/>
        </p:nvSpPr>
        <p:spPr>
          <a:xfrm>
            <a:off x="2452573" y="2066544"/>
            <a:ext cx="1711909" cy="2743200"/>
          </a:xfrm>
          <a:prstGeom prst="roundRect">
            <a:avLst>
              <a:gd name="adj" fmla="val 6410"/>
            </a:avLst>
          </a:prstGeom>
          <a:solidFill>
            <a:srgbClr val="0D1B2A"/>
          </a:solidFill>
          <a:ln/>
        </p:spPr>
      </p:sp>
      <p:sp>
        <p:nvSpPr>
          <p:cNvPr id="17" name="Shape 15"/>
          <p:cNvSpPr/>
          <p:nvPr/>
        </p:nvSpPr>
        <p:spPr>
          <a:xfrm>
            <a:off x="2397709" y="2011680"/>
            <a:ext cx="1711909" cy="2743200"/>
          </a:xfrm>
          <a:prstGeom prst="roundRect">
            <a:avLst>
              <a:gd name="adj" fmla="val 641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61056" y="2221992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624" y="2194560"/>
            <a:ext cx="640080" cy="640080"/>
          </a:xfrm>
          <a:prstGeom prst="ellipse">
            <a:avLst/>
          </a:prstGeom>
          <a:solidFill>
            <a:srgbClr val="B0BEC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50800" dir="16200000">
              <a:srgbClr val="B0BEC5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33624" y="2194560"/>
            <a:ext cx="6400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89149" y="2971800"/>
            <a:ext cx="1529029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89149" y="3337560"/>
            <a:ext cx="1529029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for next train based on timetable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76976" y="2514600"/>
            <a:ext cx="118872" cy="5486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24" name="Shape 22"/>
          <p:cNvSpPr/>
          <p:nvPr/>
        </p:nvSpPr>
        <p:spPr>
          <a:xfrm>
            <a:off x="4301642" y="2066544"/>
            <a:ext cx="1711909" cy="2743200"/>
          </a:xfrm>
          <a:prstGeom prst="roundRect">
            <a:avLst>
              <a:gd name="adj" fmla="val 6410"/>
            </a:avLst>
          </a:prstGeom>
          <a:solidFill>
            <a:srgbClr val="0D1B2A"/>
          </a:solidFill>
          <a:ln/>
        </p:spPr>
      </p:sp>
      <p:sp>
        <p:nvSpPr>
          <p:cNvPr id="25" name="Shape 23"/>
          <p:cNvSpPr/>
          <p:nvPr/>
        </p:nvSpPr>
        <p:spPr>
          <a:xfrm>
            <a:off x="4246778" y="2011680"/>
            <a:ext cx="1711909" cy="2743200"/>
          </a:xfrm>
          <a:prstGeom prst="roundRect">
            <a:avLst>
              <a:gd name="adj" fmla="val 641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10125" y="2221992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4782693" y="2194560"/>
            <a:ext cx="640080" cy="640080"/>
          </a:xfrm>
          <a:prstGeom prst="ellipse">
            <a:avLst/>
          </a:prstGeom>
          <a:solidFill>
            <a:srgbClr val="1E88E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50800" dir="16200000">
              <a:srgbClr val="1E88E5">
                <a:alpha val="5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82693" y="2194560"/>
            <a:ext cx="6400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338218" y="2971800"/>
            <a:ext cx="1529029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38218" y="3337560"/>
            <a:ext cx="1529029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 the first metro line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826045" y="2514600"/>
            <a:ext cx="118872" cy="5486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32" name="Shape 30"/>
          <p:cNvSpPr/>
          <p:nvPr/>
        </p:nvSpPr>
        <p:spPr>
          <a:xfrm>
            <a:off x="6150712" y="2066544"/>
            <a:ext cx="1711909" cy="2743200"/>
          </a:xfrm>
          <a:prstGeom prst="roundRect">
            <a:avLst>
              <a:gd name="adj" fmla="val 6410"/>
            </a:avLst>
          </a:prstGeom>
          <a:solidFill>
            <a:srgbClr val="0D1B2A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2011680"/>
            <a:ext cx="1711909" cy="2743200"/>
          </a:xfrm>
          <a:prstGeom prst="roundRect">
            <a:avLst>
              <a:gd name="adj" fmla="val 641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659194" y="2221992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6631762" y="2194560"/>
            <a:ext cx="640080" cy="640080"/>
          </a:xfrm>
          <a:prstGeom prst="ellipse">
            <a:avLst/>
          </a:prstGeom>
          <a:solidFill>
            <a:srgbClr val="43A047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50800" dir="16200000">
              <a:srgbClr val="43A047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631762" y="2194560"/>
            <a:ext cx="6400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187288" y="2971800"/>
            <a:ext cx="1529029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87288" y="3337560"/>
            <a:ext cx="1529029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Travel along the metro line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675114" y="2514600"/>
            <a:ext cx="118872" cy="5486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40" name="Shape 38"/>
          <p:cNvSpPr/>
          <p:nvPr/>
        </p:nvSpPr>
        <p:spPr>
          <a:xfrm>
            <a:off x="7999781" y="2066544"/>
            <a:ext cx="1711909" cy="2743200"/>
          </a:xfrm>
          <a:prstGeom prst="roundRect">
            <a:avLst>
              <a:gd name="adj" fmla="val 6410"/>
            </a:avLst>
          </a:prstGeom>
          <a:solidFill>
            <a:srgbClr val="0D1B2A"/>
          </a:solidFill>
          <a:ln/>
        </p:spPr>
      </p:sp>
      <p:sp>
        <p:nvSpPr>
          <p:cNvPr id="41" name="Shape 39"/>
          <p:cNvSpPr/>
          <p:nvPr/>
        </p:nvSpPr>
        <p:spPr>
          <a:xfrm>
            <a:off x="7944917" y="2011680"/>
            <a:ext cx="1711909" cy="2743200"/>
          </a:xfrm>
          <a:prstGeom prst="roundRect">
            <a:avLst>
              <a:gd name="adj" fmla="val 641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508263" y="2221992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8480831" y="2194560"/>
            <a:ext cx="640080" cy="640080"/>
          </a:xfrm>
          <a:prstGeom prst="ellipse">
            <a:avLst/>
          </a:prstGeom>
          <a:solidFill>
            <a:srgbClr val="E5393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50800" dir="16200000">
              <a:srgbClr val="E53935">
                <a:alpha val="5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480831" y="2194560"/>
            <a:ext cx="6400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036357" y="2971800"/>
            <a:ext cx="1529029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Interchange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36357" y="3337560"/>
            <a:ext cx="1529029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 between lines at interchange station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848850" y="2066544"/>
            <a:ext cx="1711909" cy="2743200"/>
          </a:xfrm>
          <a:prstGeom prst="roundRect">
            <a:avLst>
              <a:gd name="adj" fmla="val 6410"/>
            </a:avLst>
          </a:prstGeom>
          <a:solidFill>
            <a:srgbClr val="0D1B2A"/>
          </a:solidFill>
          <a:ln/>
        </p:spPr>
      </p:sp>
      <p:sp>
        <p:nvSpPr>
          <p:cNvPr id="48" name="Shape 46"/>
          <p:cNvSpPr/>
          <p:nvPr/>
        </p:nvSpPr>
        <p:spPr>
          <a:xfrm>
            <a:off x="9793986" y="2011680"/>
            <a:ext cx="1711909" cy="2743200"/>
          </a:xfrm>
          <a:prstGeom prst="roundRect">
            <a:avLst>
              <a:gd name="adj" fmla="val 641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357333" y="2221992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0329901" y="2194560"/>
            <a:ext cx="640080" cy="640080"/>
          </a:xfrm>
          <a:prstGeom prst="ellipse">
            <a:avLst/>
          </a:prstGeom>
          <a:solidFill>
            <a:srgbClr val="FFB300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50800" dir="16200000">
              <a:srgbClr val="FFB300">
                <a:alpha val="5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0329901" y="2194560"/>
            <a:ext cx="6400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885426" y="2971800"/>
            <a:ext cx="1529029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Walk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885426" y="3337560"/>
            <a:ext cx="1529029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 from exit station to final destination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6384" y="5175504"/>
            <a:ext cx="10728655" cy="82296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</p:spPr>
      </p:sp>
      <p:sp>
        <p:nvSpPr>
          <p:cNvPr id="55" name="Shape 53"/>
          <p:cNvSpPr/>
          <p:nvPr/>
        </p:nvSpPr>
        <p:spPr>
          <a:xfrm>
            <a:off x="731520" y="5120640"/>
            <a:ext cx="10728655" cy="822960"/>
          </a:xfrm>
          <a:prstGeom prst="roundRect">
            <a:avLst>
              <a:gd name="adj" fmla="val 13333"/>
            </a:avLst>
          </a:prstGeom>
          <a:solidFill>
            <a:srgbClr val="112844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14400" y="5166360"/>
            <a:ext cx="10362895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Outputs:  Leave Time  |  Board Time  |  Arrival Time  |  Total Duration  |  Walking Distance  |  Total Cost (Metro + First/Last Mile)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/>
          <a:effectLst>
            <a:outerShdw sx="100000" sy="100000" kx="0" ky="0" algn="bl" rotWithShape="0" blurRad="50800" dist="50800" dir="16200000">
              <a:srgbClr val="FFB3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Timetable &amp; Walking Estimation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86384" y="1792224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73736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74520"/>
            <a:ext cx="475488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Simulated Timetable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475488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Hours: 06:30 – 22:00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283464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112844"/>
          </a:solidFill>
          <a:ln w="6350">
            <a:solidFill>
              <a:srgbClr val="E539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2971800"/>
            <a:ext cx="228600" cy="2286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2834640"/>
            <a:ext cx="228600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834640"/>
            <a:ext cx="182880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9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Headway: 3–5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347472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112844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3611880"/>
            <a:ext cx="228600" cy="22860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474720"/>
            <a:ext cx="228600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474720"/>
            <a:ext cx="182880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88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Headway: 4–6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411480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112844"/>
          </a:solidFill>
          <a:ln w="6350">
            <a:solidFill>
              <a:srgbClr val="43A0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4251960"/>
            <a:ext cx="228600" cy="22860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4114800"/>
            <a:ext cx="228600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114800"/>
            <a:ext cx="182880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Headway: 5–8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937760"/>
            <a:ext cx="475488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HMRL GTFS data requires request form access. Timetable is simulated with realistic headways for demonstration.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55664" y="1792224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1874520"/>
            <a:ext cx="466344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Walking Estimation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37960" y="246888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112844"/>
          </a:solidFill>
          <a:ln w="5080">
            <a:solidFill>
              <a:srgbClr val="43A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468880"/>
            <a:ext cx="256032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walking speed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35440" y="2468880"/>
            <a:ext cx="192024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km/h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306324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112844"/>
          </a:solidFill>
          <a:ln w="5080">
            <a:solidFill>
              <a:srgbClr val="43A0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063240"/>
            <a:ext cx="256032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Walking distance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35440" y="3063240"/>
            <a:ext cx="192024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x time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365760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112844"/>
          </a:solidFill>
          <a:ln w="5080">
            <a:solidFill>
              <a:srgbClr val="43A0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657600"/>
            <a:ext cx="256032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Interchange penalty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35440" y="3657600"/>
            <a:ext cx="192024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minutes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37960" y="425196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112844"/>
          </a:solidFill>
          <a:ln w="5080">
            <a:solidFill>
              <a:srgbClr val="43A0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4251960"/>
            <a:ext cx="256032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walk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35440" y="4251960"/>
            <a:ext cx="192024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input or estimated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37960" y="484632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112844"/>
          </a:solidFill>
          <a:ln w="5080">
            <a:solidFill>
              <a:srgbClr val="43A0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4846320"/>
            <a:ext cx="256032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walk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35440" y="4846320"/>
            <a:ext cx="192024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input or estimated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5394960"/>
            <a:ext cx="466344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GPS or map API used. All walking estimates are simulated for demonstration.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50800" dist="50800" dir="16200000">
              <a:srgbClr val="00BCD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Features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18592" y="1609344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8" name="Shape 6"/>
          <p:cNvSpPr/>
          <p:nvPr/>
        </p:nvSpPr>
        <p:spPr>
          <a:xfrm>
            <a:off x="563728" y="15544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2016" y="1572768"/>
            <a:ext cx="2523744" cy="73152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746608" y="1828800"/>
            <a:ext cx="21945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Journey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6608" y="2240280"/>
            <a:ext cx="21945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source, destination, departure time, and routing objective with a clean, intuitive interface.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53232" y="1609344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13" name="Shape 11"/>
          <p:cNvSpPr/>
          <p:nvPr/>
        </p:nvSpPr>
        <p:spPr>
          <a:xfrm>
            <a:off x="3398368" y="15544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16656" y="1572768"/>
            <a:ext cx="2523744" cy="73152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/>
        </p:spPr>
      </p:sp>
      <p:sp>
        <p:nvSpPr>
          <p:cNvPr id="15" name="Text 13"/>
          <p:cNvSpPr/>
          <p:nvPr/>
        </p:nvSpPr>
        <p:spPr>
          <a:xfrm>
            <a:off x="3581248" y="1828800"/>
            <a:ext cx="21945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Results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81248" y="2240280"/>
            <a:ext cx="21945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multiple route options with metrics: time, distance, fare, transfers, and walking distance.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87872" y="1609344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3008" y="15544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1296" y="1572768"/>
            <a:ext cx="2523744" cy="73152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20" name="Text 18"/>
          <p:cNvSpPr/>
          <p:nvPr/>
        </p:nvSpPr>
        <p:spPr>
          <a:xfrm>
            <a:off x="6415888" y="1828800"/>
            <a:ext cx="21945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5888" y="2240280"/>
            <a:ext cx="21945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the full Hyderabad Metro network map with all 3 lines and 59 stations.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22512" y="1609344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23" name="Shape 21"/>
          <p:cNvSpPr/>
          <p:nvPr/>
        </p:nvSpPr>
        <p:spPr>
          <a:xfrm>
            <a:off x="9067648" y="15544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85936" y="1572768"/>
            <a:ext cx="2523744" cy="73152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/>
        </p:spPr>
      </p:sp>
      <p:sp>
        <p:nvSpPr>
          <p:cNvPr id="25" name="Text 23"/>
          <p:cNvSpPr/>
          <p:nvPr/>
        </p:nvSpPr>
        <p:spPr>
          <a:xfrm>
            <a:off x="9250528" y="1828800"/>
            <a:ext cx="21945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DSA Lab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50528" y="2240280"/>
            <a:ext cx="21945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visualization of Dijkstra, priority queue, and k-shortest paths algorithm execution.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592" y="3666744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28" name="Shape 26"/>
          <p:cNvSpPr/>
          <p:nvPr/>
        </p:nvSpPr>
        <p:spPr>
          <a:xfrm>
            <a:off x="563728" y="36118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2016" y="3630168"/>
            <a:ext cx="2523744" cy="73152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30" name="Text 28"/>
          <p:cNvSpPr/>
          <p:nvPr/>
        </p:nvSpPr>
        <p:spPr>
          <a:xfrm>
            <a:off x="746608" y="3886200"/>
            <a:ext cx="21945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Inspector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6608" y="4297680"/>
            <a:ext cx="21945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vertices, edges, and adjacency lists of the metro graph data model.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53232" y="3666744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33" name="Shape 31"/>
          <p:cNvSpPr/>
          <p:nvPr/>
        </p:nvSpPr>
        <p:spPr>
          <a:xfrm>
            <a:off x="3398368" y="36118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16656" y="3630168"/>
            <a:ext cx="2523744" cy="73152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/>
        </p:spPr>
      </p:sp>
      <p:sp>
        <p:nvSpPr>
          <p:cNvPr id="35" name="Text 33"/>
          <p:cNvSpPr/>
          <p:nvPr/>
        </p:nvSpPr>
        <p:spPr>
          <a:xfrm>
            <a:off x="3581248" y="3886200"/>
            <a:ext cx="21945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Comparison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581248" y="4297680"/>
            <a:ext cx="21945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comparison report of all candidate routes across every metric.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87872" y="3666744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38" name="Shape 36"/>
          <p:cNvSpPr/>
          <p:nvPr/>
        </p:nvSpPr>
        <p:spPr>
          <a:xfrm>
            <a:off x="6233008" y="36118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51296" y="3630168"/>
            <a:ext cx="2523744" cy="73152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40" name="Text 38"/>
          <p:cNvSpPr/>
          <p:nvPr/>
        </p:nvSpPr>
        <p:spPr>
          <a:xfrm>
            <a:off x="6415888" y="3886200"/>
            <a:ext cx="21945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Door-to-Door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15888" y="4297680"/>
            <a:ext cx="21945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first/last mile walking and cost inputs for complete journey planning.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122512" y="3666744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43" name="Shape 41"/>
          <p:cNvSpPr/>
          <p:nvPr/>
        </p:nvSpPr>
        <p:spPr>
          <a:xfrm>
            <a:off x="9067648" y="36118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085936" y="3630168"/>
            <a:ext cx="2523744" cy="73152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/>
        </p:spPr>
      </p:sp>
      <p:sp>
        <p:nvSpPr>
          <p:cNvPr id="45" name="Text 43"/>
          <p:cNvSpPr/>
          <p:nvPr/>
        </p:nvSpPr>
        <p:spPr>
          <a:xfrm>
            <a:off x="9250528" y="3886200"/>
            <a:ext cx="219456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Itinerary Timeline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250528" y="4297680"/>
            <a:ext cx="21945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timeline with timestamps for each step: walk, wait, board, ride, transfer.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/>
          <a:effectLst>
            <a:outerShdw sx="100000" sy="100000" kx="0" ky="0" algn="bl" rotWithShape="0" blurRad="50800" dist="50800" dir="16200000">
              <a:srgbClr val="1E88E5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01472" y="1700784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/>
        </p:spPr>
      </p:sp>
      <p:sp>
        <p:nvSpPr>
          <p:cNvPr id="8" name="Shape 6"/>
          <p:cNvSpPr/>
          <p:nvPr/>
        </p:nvSpPr>
        <p:spPr>
          <a:xfrm>
            <a:off x="746608" y="16459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9488" y="1828800"/>
            <a:ext cx="30175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9488" y="2148840"/>
            <a:ext cx="301752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9488" y="2697480"/>
            <a:ext cx="301752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Component-based UI with hooks for state management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4896" y="3657600"/>
            <a:ext cx="3346704" cy="73152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</p:spPr>
      </p:sp>
      <p:sp>
        <p:nvSpPr>
          <p:cNvPr id="13" name="Shape 11"/>
          <p:cNvSpPr/>
          <p:nvPr/>
        </p:nvSpPr>
        <p:spPr>
          <a:xfrm>
            <a:off x="4459072" y="1700784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/>
        </p:spPr>
      </p:sp>
      <p:sp>
        <p:nvSpPr>
          <p:cNvPr id="14" name="Shape 12"/>
          <p:cNvSpPr/>
          <p:nvPr/>
        </p:nvSpPr>
        <p:spPr>
          <a:xfrm>
            <a:off x="4404208" y="16459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87088" y="1828800"/>
            <a:ext cx="30175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87088" y="2148840"/>
            <a:ext cx="301752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87088" y="2697480"/>
            <a:ext cx="301752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Type-safe code with interfaces for all graph and routing types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22496" y="3657600"/>
            <a:ext cx="3346704" cy="73152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/>
        </p:spPr>
      </p:sp>
      <p:sp>
        <p:nvSpPr>
          <p:cNvPr id="19" name="Shape 17"/>
          <p:cNvSpPr/>
          <p:nvPr/>
        </p:nvSpPr>
        <p:spPr>
          <a:xfrm>
            <a:off x="8116672" y="1700784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8061808" y="16459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44688" y="1828800"/>
            <a:ext cx="30175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Tool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44688" y="2148840"/>
            <a:ext cx="301752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A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44688" y="2697480"/>
            <a:ext cx="301752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development server and optimized production builds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80096" y="3657600"/>
            <a:ext cx="3346704" cy="73152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25" name="Shape 23"/>
          <p:cNvSpPr/>
          <p:nvPr/>
        </p:nvSpPr>
        <p:spPr>
          <a:xfrm>
            <a:off x="801472" y="4032504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/>
        </p:spPr>
      </p:sp>
      <p:sp>
        <p:nvSpPr>
          <p:cNvPr id="26" name="Shape 24"/>
          <p:cNvSpPr/>
          <p:nvPr/>
        </p:nvSpPr>
        <p:spPr>
          <a:xfrm>
            <a:off x="746608" y="397764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9488" y="4160520"/>
            <a:ext cx="30175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9488" y="4480560"/>
            <a:ext cx="301752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9488" y="5029200"/>
            <a:ext cx="301752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Utility-first CSS framework for responsive, consistent design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4896" y="5989320"/>
            <a:ext cx="3346704" cy="73152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459072" y="4032504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/>
        </p:spPr>
      </p:sp>
      <p:sp>
        <p:nvSpPr>
          <p:cNvPr id="32" name="Shape 30"/>
          <p:cNvSpPr/>
          <p:nvPr/>
        </p:nvSpPr>
        <p:spPr>
          <a:xfrm>
            <a:off x="4404208" y="397764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87088" y="4160520"/>
            <a:ext cx="30175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87088" y="4480560"/>
            <a:ext cx="301752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Lucide React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87088" y="5029200"/>
            <a:ext cx="301752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Clean, modern SVG icon set for UI elements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22496" y="5989320"/>
            <a:ext cx="3346704" cy="73152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37" name="Shape 35"/>
          <p:cNvSpPr/>
          <p:nvPr/>
        </p:nvSpPr>
        <p:spPr>
          <a:xfrm>
            <a:off x="8116672" y="4032504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/>
        </p:spPr>
      </p:sp>
      <p:sp>
        <p:nvSpPr>
          <p:cNvPr id="38" name="Shape 36"/>
          <p:cNvSpPr/>
          <p:nvPr/>
        </p:nvSpPr>
        <p:spPr>
          <a:xfrm>
            <a:off x="8061808" y="397764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44688" y="4160520"/>
            <a:ext cx="301752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44688" y="4480560"/>
            <a:ext cx="301752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3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244688" y="5029200"/>
            <a:ext cx="301752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database with Row Level Security for data persistence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80096" y="5989320"/>
            <a:ext cx="3346704" cy="73152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7375" cy="6583680"/>
          </a:xfrm>
          <a:prstGeom prst="roundRect">
            <a:avLst>
              <a:gd name="adj" fmla="val 1389"/>
            </a:avLst>
          </a:prstGeom>
          <a:solidFill>
            <a:srgbClr val="112844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5852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  <a:effectLst>
            <a:outerShdw sx="100000" sy="100000" kx="0" ky="0" algn="bl" rotWithShape="0" blurRad="50800" dist="50800" dir="16200000">
              <a:srgbClr val="43A047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Data Flow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401672" y="3035808"/>
            <a:ext cx="182880" cy="146304"/>
          </a:xfrm>
          <a:prstGeom prst="rightArrow">
            <a:avLst/>
          </a:prstGeom>
          <a:solidFill>
            <a:srgbClr val="78909C"/>
          </a:solidFill>
          <a:ln/>
        </p:spPr>
      </p:sp>
      <p:sp>
        <p:nvSpPr>
          <p:cNvPr id="8" name="Shape 6"/>
          <p:cNvSpPr/>
          <p:nvPr/>
        </p:nvSpPr>
        <p:spPr>
          <a:xfrm>
            <a:off x="847192" y="2157984"/>
            <a:ext cx="1600200" cy="2011680"/>
          </a:xfrm>
          <a:prstGeom prst="roundRect">
            <a:avLst>
              <a:gd name="adj" fmla="val 6857"/>
            </a:avLst>
          </a:prstGeom>
          <a:solidFill>
            <a:srgbClr val="0D1B2A"/>
          </a:solidFill>
          <a:ln/>
        </p:spPr>
      </p:sp>
      <p:sp>
        <p:nvSpPr>
          <p:cNvPr id="9" name="Shape 7"/>
          <p:cNvSpPr/>
          <p:nvPr/>
        </p:nvSpPr>
        <p:spPr>
          <a:xfrm>
            <a:off x="792328" y="2103120"/>
            <a:ext cx="1600200" cy="2011680"/>
          </a:xfrm>
          <a:prstGeom prst="roundRect">
            <a:avLst>
              <a:gd name="adj" fmla="val 685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0616" y="2121408"/>
            <a:ext cx="1563624" cy="457200"/>
          </a:xfrm>
          <a:prstGeom prst="roundRect">
            <a:avLst>
              <a:gd name="adj" fmla="val 16000"/>
            </a:avLst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838048" y="2121408"/>
            <a:ext cx="150876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3768" y="2743200"/>
            <a:ext cx="141732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Source, destination,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time, objective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27836" y="3794760"/>
            <a:ext cx="320040" cy="320040"/>
          </a:xfrm>
          <a:prstGeom prst="ellipse">
            <a:avLst/>
          </a:prstGeom>
          <a:solidFill>
            <a:srgbClr val="00BC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27836" y="3794760"/>
            <a:ext cx="320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3040" y="3035808"/>
            <a:ext cx="182880" cy="146304"/>
          </a:xfrm>
          <a:prstGeom prst="rightArrow">
            <a:avLst/>
          </a:prstGeom>
          <a:solidFill>
            <a:srgbClr val="78909C"/>
          </a:solidFill>
          <a:ln/>
        </p:spPr>
      </p:sp>
      <p:sp>
        <p:nvSpPr>
          <p:cNvPr id="16" name="Shape 14"/>
          <p:cNvSpPr/>
          <p:nvPr/>
        </p:nvSpPr>
        <p:spPr>
          <a:xfrm>
            <a:off x="2648560" y="2157984"/>
            <a:ext cx="1600200" cy="2011680"/>
          </a:xfrm>
          <a:prstGeom prst="roundRect">
            <a:avLst>
              <a:gd name="adj" fmla="val 6857"/>
            </a:avLst>
          </a:prstGeom>
          <a:solidFill>
            <a:srgbClr val="0D1B2A"/>
          </a:solidFill>
          <a:ln/>
        </p:spPr>
      </p:sp>
      <p:sp>
        <p:nvSpPr>
          <p:cNvPr id="17" name="Shape 15"/>
          <p:cNvSpPr/>
          <p:nvPr/>
        </p:nvSpPr>
        <p:spPr>
          <a:xfrm>
            <a:off x="2593696" y="2103120"/>
            <a:ext cx="1600200" cy="2011680"/>
          </a:xfrm>
          <a:prstGeom prst="roundRect">
            <a:avLst>
              <a:gd name="adj" fmla="val 685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11984" y="2121408"/>
            <a:ext cx="1563624" cy="457200"/>
          </a:xfrm>
          <a:prstGeom prst="roundRect">
            <a:avLst>
              <a:gd name="adj" fmla="val 16000"/>
            </a:avLst>
          </a:prstGeom>
          <a:solidFill>
            <a:srgbClr val="1E88E5"/>
          </a:solidFill>
          <a:ln/>
        </p:spPr>
      </p:sp>
      <p:sp>
        <p:nvSpPr>
          <p:cNvPr id="19" name="Text 17"/>
          <p:cNvSpPr/>
          <p:nvPr/>
        </p:nvSpPr>
        <p:spPr>
          <a:xfrm>
            <a:off x="2639416" y="2121408"/>
            <a:ext cx="150876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Builder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85136" y="2743200"/>
            <a:ext cx="141732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adjacency list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station 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29204" y="3794760"/>
            <a:ext cx="320040" cy="320040"/>
          </a:xfrm>
          <a:prstGeom prst="ellipse">
            <a:avLst/>
          </a:prstGeom>
          <a:solidFill>
            <a:srgbClr val="1E88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9204" y="3794760"/>
            <a:ext cx="320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04408" y="3035808"/>
            <a:ext cx="182880" cy="146304"/>
          </a:xfrm>
          <a:prstGeom prst="rightArrow">
            <a:avLst/>
          </a:prstGeom>
          <a:solidFill>
            <a:srgbClr val="78909C"/>
          </a:solidFill>
          <a:ln/>
        </p:spPr>
      </p:sp>
      <p:sp>
        <p:nvSpPr>
          <p:cNvPr id="24" name="Shape 22"/>
          <p:cNvSpPr/>
          <p:nvPr/>
        </p:nvSpPr>
        <p:spPr>
          <a:xfrm>
            <a:off x="4449928" y="2157984"/>
            <a:ext cx="1600200" cy="2011680"/>
          </a:xfrm>
          <a:prstGeom prst="roundRect">
            <a:avLst>
              <a:gd name="adj" fmla="val 6857"/>
            </a:avLst>
          </a:prstGeom>
          <a:solidFill>
            <a:srgbClr val="0D1B2A"/>
          </a:solidFill>
          <a:ln/>
        </p:spPr>
      </p:sp>
      <p:sp>
        <p:nvSpPr>
          <p:cNvPr id="25" name="Shape 23"/>
          <p:cNvSpPr/>
          <p:nvPr/>
        </p:nvSpPr>
        <p:spPr>
          <a:xfrm>
            <a:off x="4395064" y="2103120"/>
            <a:ext cx="1600200" cy="2011680"/>
          </a:xfrm>
          <a:prstGeom prst="roundRect">
            <a:avLst>
              <a:gd name="adj" fmla="val 685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13352" y="2121408"/>
            <a:ext cx="1563624" cy="457200"/>
          </a:xfrm>
          <a:prstGeom prst="roundRect">
            <a:avLst>
              <a:gd name="adj" fmla="val 16000"/>
            </a:avLst>
          </a:prstGeom>
          <a:solidFill>
            <a:srgbClr val="43A047"/>
          </a:solidFill>
          <a:ln/>
        </p:spPr>
      </p:sp>
      <p:sp>
        <p:nvSpPr>
          <p:cNvPr id="27" name="Text 25"/>
          <p:cNvSpPr/>
          <p:nvPr/>
        </p:nvSpPr>
        <p:spPr>
          <a:xfrm>
            <a:off x="4440784" y="2121408"/>
            <a:ext cx="150876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Engine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6504" y="2743200"/>
            <a:ext cx="141732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 / Yen's /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 BFS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30572" y="3794760"/>
            <a:ext cx="320040" cy="320040"/>
          </a:xfrm>
          <a:prstGeom prst="ellipse">
            <a:avLst/>
          </a:prstGeom>
          <a:solidFill>
            <a:srgbClr val="43A0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0572" y="3794760"/>
            <a:ext cx="320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05776" y="3035808"/>
            <a:ext cx="182880" cy="146304"/>
          </a:xfrm>
          <a:prstGeom prst="rightArrow">
            <a:avLst/>
          </a:prstGeom>
          <a:solidFill>
            <a:srgbClr val="78909C"/>
          </a:solidFill>
          <a:ln/>
        </p:spPr>
      </p:sp>
      <p:sp>
        <p:nvSpPr>
          <p:cNvPr id="32" name="Shape 30"/>
          <p:cNvSpPr/>
          <p:nvPr/>
        </p:nvSpPr>
        <p:spPr>
          <a:xfrm>
            <a:off x="6251296" y="2157984"/>
            <a:ext cx="1600200" cy="2011680"/>
          </a:xfrm>
          <a:prstGeom prst="roundRect">
            <a:avLst>
              <a:gd name="adj" fmla="val 6857"/>
            </a:avLst>
          </a:prstGeom>
          <a:solidFill>
            <a:srgbClr val="0D1B2A"/>
          </a:solidFill>
          <a:ln/>
        </p:spPr>
      </p:sp>
      <p:sp>
        <p:nvSpPr>
          <p:cNvPr id="33" name="Shape 31"/>
          <p:cNvSpPr/>
          <p:nvPr/>
        </p:nvSpPr>
        <p:spPr>
          <a:xfrm>
            <a:off x="6196432" y="2103120"/>
            <a:ext cx="1600200" cy="2011680"/>
          </a:xfrm>
          <a:prstGeom prst="roundRect">
            <a:avLst>
              <a:gd name="adj" fmla="val 685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4720" y="2121408"/>
            <a:ext cx="1563624" cy="457200"/>
          </a:xfrm>
          <a:prstGeom prst="roundRect">
            <a:avLst>
              <a:gd name="adj" fmla="val 16000"/>
            </a:avLst>
          </a:prstGeom>
          <a:solidFill>
            <a:srgbClr val="FFB300"/>
          </a:solidFill>
          <a:ln/>
        </p:spPr>
      </p:sp>
      <p:sp>
        <p:nvSpPr>
          <p:cNvPr id="35" name="Text 33"/>
          <p:cNvSpPr/>
          <p:nvPr/>
        </p:nvSpPr>
        <p:spPr>
          <a:xfrm>
            <a:off x="6242152" y="2121408"/>
            <a:ext cx="150876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Fare &amp; Timetable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7872" y="2743200"/>
            <a:ext cx="141732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Fare slabs +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simulated schedule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31940" y="3794760"/>
            <a:ext cx="320040" cy="320040"/>
          </a:xfrm>
          <a:prstGeom prst="ellipse">
            <a:avLst/>
          </a:prstGeom>
          <a:solidFill>
            <a:srgbClr val="FFB3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1940" y="3794760"/>
            <a:ext cx="320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607144" y="3035808"/>
            <a:ext cx="182880" cy="146304"/>
          </a:xfrm>
          <a:prstGeom prst="rightArrow">
            <a:avLst/>
          </a:prstGeom>
          <a:solidFill>
            <a:srgbClr val="78909C"/>
          </a:solidFill>
          <a:ln/>
        </p:spPr>
      </p:sp>
      <p:sp>
        <p:nvSpPr>
          <p:cNvPr id="40" name="Shape 38"/>
          <p:cNvSpPr/>
          <p:nvPr/>
        </p:nvSpPr>
        <p:spPr>
          <a:xfrm>
            <a:off x="8052664" y="2157984"/>
            <a:ext cx="1600200" cy="2011680"/>
          </a:xfrm>
          <a:prstGeom prst="roundRect">
            <a:avLst>
              <a:gd name="adj" fmla="val 6857"/>
            </a:avLst>
          </a:prstGeom>
          <a:solidFill>
            <a:srgbClr val="0D1B2A"/>
          </a:solidFill>
          <a:ln/>
        </p:spPr>
      </p:sp>
      <p:sp>
        <p:nvSpPr>
          <p:cNvPr id="41" name="Shape 39"/>
          <p:cNvSpPr/>
          <p:nvPr/>
        </p:nvSpPr>
        <p:spPr>
          <a:xfrm>
            <a:off x="7997800" y="2103120"/>
            <a:ext cx="1600200" cy="2011680"/>
          </a:xfrm>
          <a:prstGeom prst="roundRect">
            <a:avLst>
              <a:gd name="adj" fmla="val 685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16088" y="2121408"/>
            <a:ext cx="1563624" cy="457200"/>
          </a:xfrm>
          <a:prstGeom prst="roundRect">
            <a:avLst>
              <a:gd name="adj" fmla="val 16000"/>
            </a:avLst>
          </a:prstGeom>
          <a:solidFill>
            <a:srgbClr val="E53935"/>
          </a:solidFill>
          <a:ln/>
        </p:spPr>
      </p:sp>
      <p:sp>
        <p:nvSpPr>
          <p:cNvPr id="43" name="Text 41"/>
          <p:cNvSpPr/>
          <p:nvPr/>
        </p:nvSpPr>
        <p:spPr>
          <a:xfrm>
            <a:off x="8043520" y="2121408"/>
            <a:ext cx="150876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Itinerary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89240" y="2743200"/>
            <a:ext cx="141732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Door-to-door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+ metrics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633308" y="3794760"/>
            <a:ext cx="320040" cy="320040"/>
          </a:xfrm>
          <a:prstGeom prst="ellipse">
            <a:avLst/>
          </a:prstGeom>
          <a:solidFill>
            <a:srgbClr val="E5393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33308" y="3794760"/>
            <a:ext cx="320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854032" y="2157984"/>
            <a:ext cx="1600200" cy="2011680"/>
          </a:xfrm>
          <a:prstGeom prst="roundRect">
            <a:avLst>
              <a:gd name="adj" fmla="val 6857"/>
            </a:avLst>
          </a:prstGeom>
          <a:solidFill>
            <a:srgbClr val="0D1B2A"/>
          </a:solidFill>
          <a:ln/>
        </p:spPr>
      </p:sp>
      <p:sp>
        <p:nvSpPr>
          <p:cNvPr id="48" name="Shape 46"/>
          <p:cNvSpPr/>
          <p:nvPr/>
        </p:nvSpPr>
        <p:spPr>
          <a:xfrm>
            <a:off x="9799168" y="2103120"/>
            <a:ext cx="1600200" cy="2011680"/>
          </a:xfrm>
          <a:prstGeom prst="roundRect">
            <a:avLst>
              <a:gd name="adj" fmla="val 6857"/>
            </a:avLst>
          </a:prstGeom>
          <a:solidFill>
            <a:srgbClr val="1B3A5C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817456" y="2121408"/>
            <a:ext cx="1563624" cy="457200"/>
          </a:xfrm>
          <a:prstGeom prst="roundRect">
            <a:avLst>
              <a:gd name="adj" fmla="val 16000"/>
            </a:avLst>
          </a:prstGeom>
          <a:solidFill>
            <a:srgbClr val="00838F"/>
          </a:solidFill>
          <a:ln/>
        </p:spPr>
      </p:sp>
      <p:sp>
        <p:nvSpPr>
          <p:cNvPr id="50" name="Text 48"/>
          <p:cNvSpPr/>
          <p:nvPr/>
        </p:nvSpPr>
        <p:spPr>
          <a:xfrm>
            <a:off x="9844888" y="2121408"/>
            <a:ext cx="150876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Display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890608" y="2743200"/>
            <a:ext cx="141732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cards, maps,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 report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434676" y="379476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434676" y="3794760"/>
            <a:ext cx="320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86384" y="4626864"/>
            <a:ext cx="10728655" cy="118872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/>
        </p:spPr>
      </p:sp>
      <p:sp>
        <p:nvSpPr>
          <p:cNvPr id="55" name="Shape 53"/>
          <p:cNvSpPr/>
          <p:nvPr/>
        </p:nvSpPr>
        <p:spPr>
          <a:xfrm>
            <a:off x="731520" y="4572000"/>
            <a:ext cx="10728655" cy="1188720"/>
          </a:xfrm>
          <a:prstGeom prst="roundRect">
            <a:avLst>
              <a:gd name="adj" fmla="val 9231"/>
            </a:avLst>
          </a:prstGeom>
          <a:solidFill>
            <a:srgbClr val="112844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14400" y="4663440"/>
            <a:ext cx="10362895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Design Principles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14400" y="5029200"/>
            <a:ext cx="10362895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Type-safe graph model separated from UI  |  Deterministic algorithms with execution traces  |  No hardcoded routes — everything computed from edge weights  |  Data provenance clearly labeled (verified vs simulated)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1551615" y="6355080"/>
            <a:ext cx="320040" cy="320040"/>
          </a:xfrm>
          <a:prstGeom prst="ellipse">
            <a:avLst/>
          </a:prstGeom>
          <a:solidFill>
            <a:srgbClr val="00838F"/>
          </a:solidFill>
          <a:ln w="6350">
            <a:solidFill>
              <a:srgbClr val="00BC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5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11551615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2340864" y="1700784"/>
            <a:ext cx="7619695" cy="356616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645920"/>
            <a:ext cx="7619695" cy="3566160"/>
          </a:xfrm>
          <a:prstGeom prst="roundRect">
            <a:avLst>
              <a:gd name="adj" fmla="val 3077"/>
            </a:avLst>
          </a:prstGeom>
          <a:solidFill>
            <a:srgbClr val="112844"/>
          </a:solidFill>
          <a:ln w="952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1680" y="1956816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724248" y="19202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50800" dist="50800" dir="16200000">
              <a:srgbClr val="00BCD4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2194560"/>
            <a:ext cx="7619695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286000" y="3291840"/>
            <a:ext cx="7619695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Metro Journey Planner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931920"/>
            <a:ext cx="7619695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37280" y="478231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3809848" y="4754880"/>
            <a:ext cx="256032" cy="256032"/>
          </a:xfrm>
          <a:prstGeom prst="ellipse">
            <a:avLst/>
          </a:prstGeom>
          <a:solidFill>
            <a:srgbClr val="E5393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E53935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29888" y="47365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3200" y="478231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55768" y="4754880"/>
            <a:ext cx="256032" cy="256032"/>
          </a:xfrm>
          <a:prstGeom prst="ellipse">
            <a:avLst/>
          </a:prstGeom>
          <a:solidFill>
            <a:srgbClr val="1E88E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1E88E5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75808" y="47365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29120" y="478231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7101688" y="4754880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43A047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21728" y="47365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Vanisha  |  Rachna  |  Akriti  |  Rohith Sai Gowd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2026-10-29T05:28:56Z</dcterms:created>
  <dcterms:modified xsi:type="dcterms:W3CDTF">2026-10-29T05:28:56Z</dcterms:modified>
</cp:coreProperties>
</file>